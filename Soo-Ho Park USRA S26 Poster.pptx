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716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57" d="100"/>
          <a:sy n="57" d="100"/>
        </p:scale>
        <p:origin x="1406" y="-50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4489452"/>
            <a:ext cx="11658600" cy="9550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14408152"/>
            <a:ext cx="10287000" cy="6623048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9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3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6838958"/>
            <a:ext cx="11830050" cy="11410948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8357858"/>
            <a:ext cx="11830050" cy="600074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7302500"/>
            <a:ext cx="58293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7302500"/>
            <a:ext cx="58293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0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460506"/>
            <a:ext cx="1183005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6724652"/>
            <a:ext cx="5802510" cy="329564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10020300"/>
            <a:ext cx="580251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6724652"/>
            <a:ext cx="5831087" cy="329564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10020300"/>
            <a:ext cx="5831087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6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6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7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828800"/>
            <a:ext cx="4423767" cy="64008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3949706"/>
            <a:ext cx="6943725" cy="194945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8229600"/>
            <a:ext cx="4423767" cy="152463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828800"/>
            <a:ext cx="4423767" cy="64008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3949706"/>
            <a:ext cx="6943725" cy="1949450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8229600"/>
            <a:ext cx="4423767" cy="152463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7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2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1460500"/>
            <a:ext cx="2957513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1460500"/>
            <a:ext cx="8701088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1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1460506"/>
            <a:ext cx="1183005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7302500"/>
            <a:ext cx="1183005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25425406"/>
            <a:ext cx="30861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F656E-CD24-4F5C-A8D1-14B787E8A06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25425406"/>
            <a:ext cx="462915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25425406"/>
            <a:ext cx="30861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14E13-E435-4A74-89E1-1FB9E16A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4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DC973DAB-F7C9-7D67-9FBC-FBEBD6D3C755}"/>
              </a:ext>
            </a:extLst>
          </p:cNvPr>
          <p:cNvSpPr/>
          <p:nvPr/>
        </p:nvSpPr>
        <p:spPr>
          <a:xfrm>
            <a:off x="0" y="2230734"/>
            <a:ext cx="13716000" cy="61762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7887B70-C82B-BB67-AA27-0353569893BA}"/>
              </a:ext>
            </a:extLst>
          </p:cNvPr>
          <p:cNvSpPr/>
          <p:nvPr/>
        </p:nvSpPr>
        <p:spPr>
          <a:xfrm>
            <a:off x="0" y="26350274"/>
            <a:ext cx="13716000" cy="1116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University of British Columbia</a:t>
            </a:r>
          </a:p>
          <a:p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Systopia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C0463-0828-3B76-5625-04FC599D1CA5}"/>
              </a:ext>
            </a:extLst>
          </p:cNvPr>
          <p:cNvSpPr txBox="1"/>
          <p:nvPr/>
        </p:nvSpPr>
        <p:spPr>
          <a:xfrm>
            <a:off x="764088" y="374218"/>
            <a:ext cx="12250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Timestamping Atomic Load, Store, and CAS Operations to Specify Fixed Linearization Points for Efficient Linearizability Checking in OmniLink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C1702-2E6B-8B1C-1A0A-0C28948DF753}"/>
              </a:ext>
            </a:extLst>
          </p:cNvPr>
          <p:cNvSpPr txBox="1"/>
          <p:nvPr/>
        </p:nvSpPr>
        <p:spPr>
          <a:xfrm>
            <a:off x="764088" y="1389881"/>
            <a:ext cx="667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Soo-Ho Park, Finn Hackett, </a:t>
            </a:r>
            <a:r>
              <a:rPr lang="en-US" dirty="0" err="1"/>
              <a:t>Yuanhao</a:t>
            </a:r>
            <a:r>
              <a:rPr lang="en-US" dirty="0"/>
              <a:t> Wei, &amp; Ivan </a:t>
            </a:r>
            <a:r>
              <a:rPr lang="en-US" dirty="0" err="1"/>
              <a:t>Beschastnikh</a:t>
            </a:r>
            <a:endParaRPr lang="en-US" dirty="0"/>
          </a:p>
          <a:p>
            <a:r>
              <a:rPr lang="en-US" dirty="0"/>
              <a:t>University of British Columbia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1C9F8-60AB-B5E3-2E33-9FE5DEF96486}"/>
              </a:ext>
            </a:extLst>
          </p:cNvPr>
          <p:cNvSpPr txBox="1"/>
          <p:nvPr/>
        </p:nvSpPr>
        <p:spPr>
          <a:xfrm>
            <a:off x="764091" y="2432642"/>
            <a:ext cx="11686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Linearizability</a:t>
            </a:r>
            <a:r>
              <a:rPr lang="en-US" dirty="0"/>
              <a:t> is a correctness condition for concurrent systems that requires each operation to appear as if it took effect </a:t>
            </a:r>
            <a:r>
              <a:rPr lang="en-US" b="1" dirty="0"/>
              <a:t>instantaneously at some single point between its invocation and its response</a:t>
            </a:r>
            <a:r>
              <a:rPr lang="en-US" dirty="0"/>
              <a:t>. This point is called the </a:t>
            </a:r>
            <a:r>
              <a:rPr lang="en-US" b="1" dirty="0"/>
              <a:t>linearization point</a:t>
            </a:r>
            <a:r>
              <a:rPr lang="en-US" dirty="0"/>
              <a:t>.</a:t>
            </a:r>
          </a:p>
          <a:p>
            <a:r>
              <a:rPr lang="en-US" dirty="0"/>
              <a:t>A concurrent system is </a:t>
            </a:r>
            <a:r>
              <a:rPr lang="en-US" b="1" dirty="0"/>
              <a:t>linearizable</a:t>
            </a:r>
            <a:r>
              <a:rPr lang="en-US" dirty="0"/>
              <a:t> if every possible interleaving of operations performed by multiple threads is equivalent to a sequential trace that preserves real-time ordering.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605362-3EBD-02EC-1298-41730178CCCC}"/>
              </a:ext>
            </a:extLst>
          </p:cNvPr>
          <p:cNvCxnSpPr/>
          <p:nvPr/>
        </p:nvCxnSpPr>
        <p:spPr>
          <a:xfrm>
            <a:off x="1014608" y="5898193"/>
            <a:ext cx="7315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E4797F-AD4C-8D4D-208A-67DB85E9D327}"/>
              </a:ext>
            </a:extLst>
          </p:cNvPr>
          <p:cNvSpPr txBox="1"/>
          <p:nvPr/>
        </p:nvSpPr>
        <p:spPr>
          <a:xfrm>
            <a:off x="7341400" y="6007692"/>
            <a:ext cx="69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356F4-B7AB-16B4-0491-DDC4F45D867D}"/>
              </a:ext>
            </a:extLst>
          </p:cNvPr>
          <p:cNvCxnSpPr/>
          <p:nvPr/>
        </p:nvCxnSpPr>
        <p:spPr>
          <a:xfrm>
            <a:off x="7955280" y="6192358"/>
            <a:ext cx="434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71C6CA-C593-4BC8-22DD-FB7E86963B2A}"/>
              </a:ext>
            </a:extLst>
          </p:cNvPr>
          <p:cNvSpPr/>
          <p:nvPr/>
        </p:nvSpPr>
        <p:spPr>
          <a:xfrm>
            <a:off x="1084729" y="5354174"/>
            <a:ext cx="1595718" cy="31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store(5)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0F4DB-3F1A-62F6-0334-6D54DAD01130}"/>
              </a:ext>
            </a:extLst>
          </p:cNvPr>
          <p:cNvSpPr/>
          <p:nvPr/>
        </p:nvSpPr>
        <p:spPr>
          <a:xfrm>
            <a:off x="3021106" y="4717679"/>
            <a:ext cx="2115670" cy="3854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5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EB6B64-DBCF-F1C1-1ACC-2765BA2E1910}"/>
              </a:ext>
            </a:extLst>
          </p:cNvPr>
          <p:cNvSpPr/>
          <p:nvPr/>
        </p:nvSpPr>
        <p:spPr>
          <a:xfrm>
            <a:off x="5970494" y="4161865"/>
            <a:ext cx="2178424" cy="394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store(3)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42440-5AFB-F66F-4043-AD2566C59979}"/>
              </a:ext>
            </a:extLst>
          </p:cNvPr>
          <p:cNvSpPr/>
          <p:nvPr/>
        </p:nvSpPr>
        <p:spPr>
          <a:xfrm>
            <a:off x="5620871" y="4717679"/>
            <a:ext cx="2178424" cy="3944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3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34DD7-45F6-F761-F34F-ECD5F9DAA2DD}"/>
              </a:ext>
            </a:extLst>
          </p:cNvPr>
          <p:cNvSpPr/>
          <p:nvPr/>
        </p:nvSpPr>
        <p:spPr>
          <a:xfrm>
            <a:off x="5378824" y="5354174"/>
            <a:ext cx="2950984" cy="313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CAS(5, 3)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true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77D7F-4541-728E-3C93-D4ADC3CA24C1}"/>
              </a:ext>
            </a:extLst>
          </p:cNvPr>
          <p:cNvSpPr txBox="1"/>
          <p:nvPr/>
        </p:nvSpPr>
        <p:spPr>
          <a:xfrm>
            <a:off x="8652980" y="3993781"/>
            <a:ext cx="4704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Since there are three overlapping operations in time, there are 6 different permutations that we need to check.</a:t>
            </a:r>
          </a:p>
          <a:p>
            <a:r>
              <a:rPr lang="en-US" sz="1600" dirty="0"/>
              <a:t>Checking the return values of load and CAS operations, </a:t>
            </a:r>
          </a:p>
          <a:p>
            <a:r>
              <a:rPr lang="en-US" sz="1600" dirty="0"/>
              <a:t>(store(5), load(5), CAS(5, 3), load(3), store(3))</a:t>
            </a:r>
          </a:p>
          <a:p>
            <a:r>
              <a:rPr lang="en-US" sz="1600" dirty="0"/>
              <a:t>or</a:t>
            </a:r>
          </a:p>
          <a:p>
            <a:r>
              <a:rPr lang="en-US" sz="1600" dirty="0"/>
              <a:t>(store(5), load(5), CAS(5, 3), store(3), load(3))</a:t>
            </a:r>
          </a:p>
          <a:p>
            <a:r>
              <a:rPr lang="en-US" sz="1600" dirty="0"/>
              <a:t>are the possible </a:t>
            </a:r>
            <a:r>
              <a:rPr lang="en-US" sz="1600" dirty="0" err="1"/>
              <a:t>linearizations</a:t>
            </a:r>
            <a:r>
              <a:rPr lang="en-US" sz="16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5A42B5-935B-69C0-87E1-11B9D652D66B}"/>
              </a:ext>
            </a:extLst>
          </p:cNvPr>
          <p:cNvSpPr txBox="1"/>
          <p:nvPr/>
        </p:nvSpPr>
        <p:spPr>
          <a:xfrm>
            <a:off x="764088" y="6525039"/>
            <a:ext cx="12342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OmniLink</a:t>
            </a:r>
            <a:r>
              <a:rPr lang="en-US" sz="1600" dirty="0"/>
              <a:t> records the invocation and response times of each operation to construct a </a:t>
            </a:r>
            <a:r>
              <a:rPr lang="en-US" sz="1600" b="1" dirty="0"/>
              <a:t>time interval for each operation </a:t>
            </a:r>
            <a:r>
              <a:rPr lang="en-US" sz="1600" dirty="0"/>
              <a:t>and </a:t>
            </a:r>
            <a:r>
              <a:rPr lang="en-US" sz="1600" b="1" dirty="0"/>
              <a:t>examines all possible permutations </a:t>
            </a:r>
            <a:r>
              <a:rPr lang="en-US" sz="1600" dirty="0"/>
              <a:t>to determine whether there exists a sequential trace consistent with the observed return values.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42C3B7-C083-7756-D1CB-C7500FB110FA}"/>
              </a:ext>
            </a:extLst>
          </p:cNvPr>
          <p:cNvSpPr txBox="1"/>
          <p:nvPr/>
        </p:nvSpPr>
        <p:spPr>
          <a:xfrm>
            <a:off x="764088" y="7305868"/>
            <a:ext cx="12246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each operation could return a timestamp corresponding to its linearization point, there would be no need to examine all possible permutations. This would effectively reduce the time complexity of the verification from O(n!) to O(1).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3D0AA6-234B-9EC9-374E-DD7CAF032226}"/>
              </a:ext>
            </a:extLst>
          </p:cNvPr>
          <p:cNvSpPr txBox="1"/>
          <p:nvPr/>
        </p:nvSpPr>
        <p:spPr>
          <a:xfrm>
            <a:off x="764091" y="8686341"/>
            <a:ext cx="1188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Timestamping Atomic Load, Store, and CAS operations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48C5D3-8CDF-45F1-6731-927FDC54B2D1}"/>
              </a:ext>
            </a:extLst>
          </p:cNvPr>
          <p:cNvSpPr/>
          <p:nvPr/>
        </p:nvSpPr>
        <p:spPr>
          <a:xfrm>
            <a:off x="2710807" y="10893286"/>
            <a:ext cx="132872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 err="1"/>
              <a:t>ts</a:t>
            </a:r>
            <a:r>
              <a:rPr lang="en-US" dirty="0"/>
              <a:t>: TBD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E64AFD-0716-FD03-7D93-9C04A81B8C32}"/>
              </a:ext>
            </a:extLst>
          </p:cNvPr>
          <p:cNvSpPr/>
          <p:nvPr/>
        </p:nvSpPr>
        <p:spPr>
          <a:xfrm>
            <a:off x="5045878" y="10893286"/>
            <a:ext cx="132872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  <a:p>
            <a:pPr algn="ctr"/>
            <a:r>
              <a:rPr lang="en-US" dirty="0" err="1"/>
              <a:t>ts</a:t>
            </a:r>
            <a:r>
              <a:rPr lang="en-US" dirty="0"/>
              <a:t>: 4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D3C8EE-1E01-5AFA-537C-10FAE8F6DBDC}"/>
              </a:ext>
            </a:extLst>
          </p:cNvPr>
          <p:cNvSpPr/>
          <p:nvPr/>
        </p:nvSpPr>
        <p:spPr>
          <a:xfrm>
            <a:off x="7341403" y="10893286"/>
            <a:ext cx="132872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 err="1"/>
              <a:t>ts</a:t>
            </a:r>
            <a:r>
              <a:rPr lang="en-US" dirty="0"/>
              <a:t>: 1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D022C6-4811-7E95-1C75-5CF947C5B97F}"/>
              </a:ext>
            </a:extLst>
          </p:cNvPr>
          <p:cNvSpPr/>
          <p:nvPr/>
        </p:nvSpPr>
        <p:spPr>
          <a:xfrm>
            <a:off x="9676474" y="10893286"/>
            <a:ext cx="132872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 err="1"/>
              <a:t>ts</a:t>
            </a:r>
            <a:r>
              <a:rPr lang="en-US" dirty="0"/>
              <a:t>: 0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8AA8CB-6159-9F10-792D-3B511E3D3807}"/>
              </a:ext>
            </a:extLst>
          </p:cNvPr>
          <p:cNvCxnSpPr/>
          <p:nvPr/>
        </p:nvCxnSpPr>
        <p:spPr>
          <a:xfrm>
            <a:off x="4102274" y="11385273"/>
            <a:ext cx="807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11C973-D4D2-25B2-482C-876C3B9D6D1D}"/>
              </a:ext>
            </a:extLst>
          </p:cNvPr>
          <p:cNvCxnSpPr/>
          <p:nvPr/>
        </p:nvCxnSpPr>
        <p:spPr>
          <a:xfrm>
            <a:off x="6450488" y="11385273"/>
            <a:ext cx="807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4867F4-CE7D-D814-2813-B7AFABE9E25D}"/>
              </a:ext>
            </a:extLst>
          </p:cNvPr>
          <p:cNvCxnSpPr/>
          <p:nvPr/>
        </p:nvCxnSpPr>
        <p:spPr>
          <a:xfrm>
            <a:off x="8747161" y="11385273"/>
            <a:ext cx="807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491F5A2-C262-5999-FF0A-8DAE2070E9F2}"/>
              </a:ext>
            </a:extLst>
          </p:cNvPr>
          <p:cNvCxnSpPr/>
          <p:nvPr/>
        </p:nvCxnSpPr>
        <p:spPr>
          <a:xfrm>
            <a:off x="1882591" y="10480816"/>
            <a:ext cx="671769" cy="65598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CB77D7A-9D79-226A-90DF-7D54BCB21AD2}"/>
              </a:ext>
            </a:extLst>
          </p:cNvPr>
          <p:cNvSpPr txBox="1"/>
          <p:nvPr/>
        </p:nvSpPr>
        <p:spPr>
          <a:xfrm>
            <a:off x="1196182" y="1029614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5F8C02-D312-13B0-E3C6-6E484540B9B6}"/>
              </a:ext>
            </a:extLst>
          </p:cNvPr>
          <p:cNvSpPr txBox="1"/>
          <p:nvPr/>
        </p:nvSpPr>
        <p:spPr>
          <a:xfrm>
            <a:off x="9680620" y="10523954"/>
            <a:ext cx="1320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8058BF-B965-DDCF-8E33-1A910E8D82CE}"/>
              </a:ext>
            </a:extLst>
          </p:cNvPr>
          <p:cNvSpPr txBox="1"/>
          <p:nvPr/>
        </p:nvSpPr>
        <p:spPr>
          <a:xfrm>
            <a:off x="781563" y="9488652"/>
            <a:ext cx="29411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V0: Linked-List Version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1D4200-5921-0BB2-11E0-76605EDDFC10}"/>
              </a:ext>
            </a:extLst>
          </p:cNvPr>
          <p:cNvSpPr txBox="1"/>
          <p:nvPr/>
        </p:nvSpPr>
        <p:spPr>
          <a:xfrm>
            <a:off x="5958686" y="1043947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values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69A3F1-2A9D-37C5-E9D6-C9586AA1D3A7}"/>
              </a:ext>
            </a:extLst>
          </p:cNvPr>
          <p:cNvSpPr txBox="1"/>
          <p:nvPr/>
        </p:nvSpPr>
        <p:spPr>
          <a:xfrm>
            <a:off x="2652152" y="10523954"/>
            <a:ext cx="1530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value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8B7FD2-36B1-4C98-F833-116489E9A40A}"/>
              </a:ext>
            </a:extLst>
          </p:cNvPr>
          <p:cNvSpPr txBox="1"/>
          <p:nvPr/>
        </p:nvSpPr>
        <p:spPr>
          <a:xfrm>
            <a:off x="7926813" y="9572951"/>
            <a:ext cx="4460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node has a timestamp of when it was installed by a store or CAS operation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553F05-5F3B-FD80-A1B9-7A62B8052C52}"/>
              </a:ext>
            </a:extLst>
          </p:cNvPr>
          <p:cNvSpPr txBox="1"/>
          <p:nvPr/>
        </p:nvSpPr>
        <p:spPr>
          <a:xfrm>
            <a:off x="10484056" y="12134020"/>
            <a:ext cx="3405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timestamps returned by store or CAS operations</a:t>
            </a: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3E79CEEC-E2CD-E6E9-6AA7-127B55D00E8E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12386904" y="9896114"/>
            <a:ext cx="671769" cy="223717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469AE2B-A2B9-9C3E-6ED3-4506226CBBE6}"/>
              </a:ext>
            </a:extLst>
          </p:cNvPr>
          <p:cNvSpPr txBox="1"/>
          <p:nvPr/>
        </p:nvSpPr>
        <p:spPr>
          <a:xfrm>
            <a:off x="5782192" y="12395294"/>
            <a:ext cx="382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Timestamps are always unique.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019C0B6-0CD6-E224-1EE5-FCF2DB740FFF}"/>
              </a:ext>
            </a:extLst>
          </p:cNvPr>
          <p:cNvCxnSpPr>
            <a:cxnSpLocks/>
          </p:cNvCxnSpPr>
          <p:nvPr/>
        </p:nvCxnSpPr>
        <p:spPr>
          <a:xfrm flipV="1">
            <a:off x="7955280" y="12007504"/>
            <a:ext cx="0" cy="3877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2CBAEE-53EE-1A2F-BB8E-D15E1CCB5624}"/>
              </a:ext>
            </a:extLst>
          </p:cNvPr>
          <p:cNvCxnSpPr>
            <a:cxnSpLocks/>
          </p:cNvCxnSpPr>
          <p:nvPr/>
        </p:nvCxnSpPr>
        <p:spPr>
          <a:xfrm flipV="1">
            <a:off x="9150989" y="12076278"/>
            <a:ext cx="403828" cy="3544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54F07E-CA61-BD28-D1DC-03637B0555BF}"/>
              </a:ext>
            </a:extLst>
          </p:cNvPr>
          <p:cNvCxnSpPr>
            <a:cxnSpLocks/>
          </p:cNvCxnSpPr>
          <p:nvPr/>
        </p:nvCxnSpPr>
        <p:spPr>
          <a:xfrm flipH="1" flipV="1">
            <a:off x="5652134" y="12044609"/>
            <a:ext cx="161321" cy="3135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CB41EB2-5152-43B1-5DC9-C7F785EC8626}"/>
              </a:ext>
            </a:extLst>
          </p:cNvPr>
          <p:cNvSpPr txBox="1"/>
          <p:nvPr/>
        </p:nvSpPr>
        <p:spPr>
          <a:xfrm>
            <a:off x="1020783" y="11395356"/>
            <a:ext cx="17665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timestamp is TBD, it is not fully installed yet and load should not be able to read it at this point.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ED7D0EC-685F-E1A2-68F0-75D6363AECF9}"/>
              </a:ext>
            </a:extLst>
          </p:cNvPr>
          <p:cNvSpPr/>
          <p:nvPr/>
        </p:nvSpPr>
        <p:spPr>
          <a:xfrm>
            <a:off x="494342" y="13165020"/>
            <a:ext cx="5761654" cy="318893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load()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read shared global timestamp from Clock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read_ts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read head pointer into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install timestamp of head node if it is TBD (wait-free operation)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while (node’s timestamp is larger than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read_ts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advance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}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return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curr’s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value with timestamp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read_ts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  <a:p>
            <a:pPr algn="ctr"/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193CAF4-BDF3-140B-EF53-8C6178DD9399}"/>
              </a:ext>
            </a:extLst>
          </p:cNvPr>
          <p:cNvSpPr/>
          <p:nvPr/>
        </p:nvSpPr>
        <p:spPr>
          <a:xfrm>
            <a:off x="6551900" y="12920258"/>
            <a:ext cx="6799187" cy="343369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store(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new_val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create new node N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while (true)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read head pointer into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install timestamp of head node if it is TBD (wait-free operation)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make N’s next pointer point to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if (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head.CAS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N))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install timestamp of N if it is TBD (wait-free operation)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return N’s timestamp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}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}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2D6C80-6C2B-E8A0-F1F7-01645D2A5079}"/>
              </a:ext>
            </a:extLst>
          </p:cNvPr>
          <p:cNvSpPr txBox="1"/>
          <p:nvPr/>
        </p:nvSpPr>
        <p:spPr>
          <a:xfrm>
            <a:off x="740970" y="17089517"/>
            <a:ext cx="30681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V1: Single Node Version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BF177B2-5115-14AA-AFD1-B0F3BB5A9E14}"/>
              </a:ext>
            </a:extLst>
          </p:cNvPr>
          <p:cNvSpPr/>
          <p:nvPr/>
        </p:nvSpPr>
        <p:spPr>
          <a:xfrm>
            <a:off x="3125300" y="18884953"/>
            <a:ext cx="2228039" cy="174144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  <a:p>
            <a:pPr algn="ctr"/>
            <a:r>
              <a:rPr lang="en-US" dirty="0" err="1"/>
              <a:t>ts</a:t>
            </a:r>
            <a:r>
              <a:rPr lang="en-US" dirty="0"/>
              <a:t>: 25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6CA368A-5431-5582-411F-DA881BA582C8}"/>
              </a:ext>
            </a:extLst>
          </p:cNvPr>
          <p:cNvCxnSpPr/>
          <p:nvPr/>
        </p:nvCxnSpPr>
        <p:spPr>
          <a:xfrm>
            <a:off x="2254127" y="19099694"/>
            <a:ext cx="671769" cy="65598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8F96FCE-495F-4D9D-C539-F16510044384}"/>
              </a:ext>
            </a:extLst>
          </p:cNvPr>
          <p:cNvSpPr txBox="1"/>
          <p:nvPr/>
        </p:nvSpPr>
        <p:spPr>
          <a:xfrm>
            <a:off x="1532069" y="1891771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0CD999-504F-D1AA-0D0B-7559425D303B}"/>
              </a:ext>
            </a:extLst>
          </p:cNvPr>
          <p:cNvSpPr txBox="1"/>
          <p:nvPr/>
        </p:nvSpPr>
        <p:spPr>
          <a:xfrm>
            <a:off x="3109669" y="20809144"/>
            <a:ext cx="3340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EBR reclamation strategy for safe node deallocation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E24F69F-93BA-9859-C4E7-C058AF42FFCD}"/>
              </a:ext>
            </a:extLst>
          </p:cNvPr>
          <p:cNvSpPr/>
          <p:nvPr/>
        </p:nvSpPr>
        <p:spPr>
          <a:xfrm>
            <a:off x="6551900" y="17471655"/>
            <a:ext cx="6799187" cy="264395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load()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read shared global timestamp from Clock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read_ts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read head pointer into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install timestamp of head node if it is TBD (wait-free operation)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read timestamp of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curr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return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curr’s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 with maximum of either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read_ts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BA57E95-0670-0224-3115-8FAB1AAA80CD}"/>
              </a:ext>
            </a:extLst>
          </p:cNvPr>
          <p:cNvSpPr txBox="1"/>
          <p:nvPr/>
        </p:nvSpPr>
        <p:spPr>
          <a:xfrm>
            <a:off x="2336579" y="17757394"/>
            <a:ext cx="3016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Maintains only the most recent value with the timestamp of its installation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438BF50-C6E5-BE5C-4588-9389790633D8}"/>
              </a:ext>
            </a:extLst>
          </p:cNvPr>
          <p:cNvSpPr txBox="1"/>
          <p:nvPr/>
        </p:nvSpPr>
        <p:spPr>
          <a:xfrm>
            <a:off x="3958629" y="9771540"/>
            <a:ext cx="3016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Maintains history of all previous values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5CC13F8-E964-DE9D-605F-12DF8B7DEE62}"/>
              </a:ext>
            </a:extLst>
          </p:cNvPr>
          <p:cNvSpPr txBox="1"/>
          <p:nvPr/>
        </p:nvSpPr>
        <p:spPr>
          <a:xfrm>
            <a:off x="741551" y="19618377"/>
            <a:ext cx="1461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Only one thread can change the values of the node at a time.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29ACF4B-2B8E-3AEB-5D95-92D2AD267098}"/>
              </a:ext>
            </a:extLst>
          </p:cNvPr>
          <p:cNvSpPr/>
          <p:nvPr/>
        </p:nvSpPr>
        <p:spPr>
          <a:xfrm>
            <a:off x="1" y="22077826"/>
            <a:ext cx="7690250" cy="42724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Statistics</a:t>
            </a:r>
            <a:br>
              <a:rPr lang="en-US" dirty="0"/>
            </a:br>
            <a:r>
              <a:rPr lang="en-US" dirty="0"/>
              <a:t>TODO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B84D52-0724-C26F-A76E-BDF099778A3B}"/>
              </a:ext>
            </a:extLst>
          </p:cNvPr>
          <p:cNvSpPr txBox="1"/>
          <p:nvPr/>
        </p:nvSpPr>
        <p:spPr>
          <a:xfrm>
            <a:off x="554432" y="16433795"/>
            <a:ext cx="984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Proof of correctness for load(), store(), and CAS() can be found at:</a:t>
            </a:r>
            <a:br>
              <a:rPr lang="en-US" sz="1400" dirty="0"/>
            </a:br>
            <a:r>
              <a:rPr lang="en-US" sz="1400" dirty="0"/>
              <a:t>https://docs.google.com/document/d/17PGGEwHfIvlk3I5eRQr67cQOCK2-tzpfvdeK1_-RBLU/edit?usp=sharing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E413C7C-09B9-BF6B-916B-5AFF7E7B56D1}"/>
              </a:ext>
            </a:extLst>
          </p:cNvPr>
          <p:cNvSpPr txBox="1"/>
          <p:nvPr/>
        </p:nvSpPr>
        <p:spPr>
          <a:xfrm>
            <a:off x="5234052" y="21566509"/>
            <a:ext cx="9845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GitHub repository for codebase: https://github.com/nyparker16/Fixed-Linearization-Point-Timestamps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959B5AE-0FA0-2C96-137F-9C30FC480542}"/>
              </a:ext>
            </a:extLst>
          </p:cNvPr>
          <p:cNvSpPr/>
          <p:nvPr/>
        </p:nvSpPr>
        <p:spPr>
          <a:xfrm>
            <a:off x="7690250" y="22077826"/>
            <a:ext cx="6039751" cy="4272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Future Work: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Implement V2 where there is no indirection to reach the node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Prove correctness for V1 (V0’s proof has been done)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Add timestamping for other atomic instructions such as </a:t>
            </a:r>
            <a:r>
              <a:rPr lang="en-US" dirty="0" err="1"/>
              <a:t>fetch_add</a:t>
            </a:r>
            <a:r>
              <a:rPr lang="en-US" dirty="0"/>
              <a:t> and </a:t>
            </a:r>
            <a:r>
              <a:rPr lang="en-US" dirty="0" err="1"/>
              <a:t>fetch_sub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Explore methods for specifying non-fixed linearization points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118" name="Picture 117" descr="Systopia Lab, Computer Science, University of British Columbia · GitHub">
            <a:extLst>
              <a:ext uri="{FF2B5EF4-FFF2-40B4-BE49-F238E27FC236}">
                <a16:creationId xmlns:a16="http://schemas.microsoft.com/office/drawing/2014/main" id="{8BF660CE-AF53-AF7F-7B4A-C5079158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166" y="26452198"/>
            <a:ext cx="938598" cy="938598"/>
          </a:xfrm>
          <a:prstGeom prst="rect">
            <a:avLst/>
          </a:prstGeom>
        </p:spPr>
      </p:pic>
      <p:pic>
        <p:nvPicPr>
          <p:cNvPr id="121" name="Picture 120" descr="University of British Columbia | World University Rankings | THE">
            <a:extLst>
              <a:ext uri="{FF2B5EF4-FFF2-40B4-BE49-F238E27FC236}">
                <a16:creationId xmlns:a16="http://schemas.microsoft.com/office/drawing/2014/main" id="{DE178965-097F-1995-47EA-DC89AB953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7764" y="26384644"/>
            <a:ext cx="1082238" cy="1082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EDD9E2-9104-47AC-B368-9E3C73FF6666}"/>
              </a:ext>
            </a:extLst>
          </p:cNvPr>
          <p:cNvSpPr txBox="1"/>
          <p:nvPr/>
        </p:nvSpPr>
        <p:spPr>
          <a:xfrm>
            <a:off x="8148918" y="20379394"/>
            <a:ext cx="4802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Timestamps are no longer unique, but load operations can always be ordered after store and modifying CAS operations.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BBA645B8-E9BE-E5A4-80E7-CAF41F107F07}"/>
              </a:ext>
            </a:extLst>
          </p:cNvPr>
          <p:cNvSpPr/>
          <p:nvPr/>
        </p:nvSpPr>
        <p:spPr>
          <a:xfrm rot="5400000">
            <a:off x="7457714" y="20228519"/>
            <a:ext cx="465071" cy="646331"/>
          </a:xfrm>
          <a:prstGeom prst="bent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33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767</Words>
  <Application>Microsoft Office PowerPoint</Application>
  <PresentationFormat>Custom</PresentationFormat>
  <Paragraphs>94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Sooho Park</dc:creator>
  <cp:lastModifiedBy>Sooho Park</cp:lastModifiedBy>
  <cp:revision>5</cp:revision>
  <dcterms:created xsi:type="dcterms:W3CDTF">2026-08-12T19:04:25Z</dcterms:created>
  <dcterms:modified xsi:type="dcterms:W3CDTF">2026-08-12T22:36:36Z</dcterms:modified>
</cp:coreProperties>
</file>