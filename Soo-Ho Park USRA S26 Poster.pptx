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219456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>
        <p:scale>
          <a:sx n="35" d="100"/>
          <a:sy n="35" d="100"/>
        </p:scale>
        <p:origin x="1435" y="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5920" y="5387342"/>
            <a:ext cx="18653760" cy="1146048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7289782"/>
            <a:ext cx="16459200" cy="7947658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641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066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1" y="8206749"/>
            <a:ext cx="18928080" cy="13693138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1" y="22029429"/>
            <a:ext cx="18928080" cy="7200898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82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19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514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752607"/>
            <a:ext cx="189280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21" y="8069582"/>
            <a:ext cx="9284016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21" y="12024360"/>
            <a:ext cx="9284016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1" y="8069582"/>
            <a:ext cx="9329738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1" y="12024360"/>
            <a:ext cx="932973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2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774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251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4739647"/>
            <a:ext cx="11109960" cy="233934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194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4739647"/>
            <a:ext cx="11109960" cy="233934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93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377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1" y="1752600"/>
            <a:ext cx="473202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1" y="1752600"/>
            <a:ext cx="1392174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38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752607"/>
            <a:ext cx="189280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8763000"/>
            <a:ext cx="189280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1F656E-CD24-4F5C-A8D1-14B787E8A060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214E13-E435-4A74-89E1-1FB9E16A6D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06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19">
            <a:extLst>
              <a:ext uri="{FF2B5EF4-FFF2-40B4-BE49-F238E27FC236}">
                <a16:creationId xmlns:a16="http://schemas.microsoft.com/office/drawing/2014/main" id="{DC973DAB-F7C9-7D67-9FBC-FBEBD6D3C755}"/>
              </a:ext>
            </a:extLst>
          </p:cNvPr>
          <p:cNvSpPr/>
          <p:nvPr/>
        </p:nvSpPr>
        <p:spPr>
          <a:xfrm>
            <a:off x="4114800" y="4973934"/>
            <a:ext cx="13716000" cy="61762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7887B70-C82B-BB67-AA27-0353569893BA}"/>
              </a:ext>
            </a:extLst>
          </p:cNvPr>
          <p:cNvSpPr/>
          <p:nvPr/>
        </p:nvSpPr>
        <p:spPr>
          <a:xfrm>
            <a:off x="4114800" y="29093474"/>
            <a:ext cx="13716000" cy="11166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University of British Columbia</a:t>
            </a:r>
          </a:p>
          <a:p>
            <a:r>
              <a:rPr lang="en-US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Systopia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Lab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3C0463-0828-3B76-5625-04FC599D1CA5}"/>
              </a:ext>
            </a:extLst>
          </p:cNvPr>
          <p:cNvSpPr txBox="1"/>
          <p:nvPr/>
        </p:nvSpPr>
        <p:spPr>
          <a:xfrm>
            <a:off x="4878888" y="3117419"/>
            <a:ext cx="1225045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/>
              <a:t>Timestamping Atomic Load, Store, and CAS Operations to Specify Fixed Linearization Points for Efficient Linearizability Checking in OmniLink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0C1702-2E6B-8B1C-1A0A-0C28948DF753}"/>
              </a:ext>
            </a:extLst>
          </p:cNvPr>
          <p:cNvSpPr txBox="1"/>
          <p:nvPr/>
        </p:nvSpPr>
        <p:spPr>
          <a:xfrm>
            <a:off x="4878888" y="4133082"/>
            <a:ext cx="66763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Soo-Ho Park, Finn Hackett, </a:t>
            </a:r>
            <a:r>
              <a:rPr lang="en-US" dirty="0" err="1"/>
              <a:t>Yuanhao</a:t>
            </a:r>
            <a:r>
              <a:rPr lang="en-US" dirty="0"/>
              <a:t> Wei, &amp; Ivan </a:t>
            </a:r>
            <a:r>
              <a:rPr lang="en-US" dirty="0" err="1"/>
              <a:t>Beschastnikh</a:t>
            </a:r>
            <a:endParaRPr lang="en-US" dirty="0"/>
          </a:p>
          <a:p>
            <a:r>
              <a:rPr lang="en-US" dirty="0"/>
              <a:t>University of British Columbia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01C9F8-60AB-B5E3-2E33-9FE5DEF96486}"/>
              </a:ext>
            </a:extLst>
          </p:cNvPr>
          <p:cNvSpPr txBox="1"/>
          <p:nvPr/>
        </p:nvSpPr>
        <p:spPr>
          <a:xfrm>
            <a:off x="4878892" y="5175842"/>
            <a:ext cx="116867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Linearizability</a:t>
            </a:r>
            <a:r>
              <a:rPr lang="en-US" dirty="0"/>
              <a:t> is a correctness condition for concurrent systems that requires each operation to appear as if it took effect </a:t>
            </a:r>
            <a:r>
              <a:rPr lang="en-US" b="1" dirty="0"/>
              <a:t>instantaneously at some single point between its invocation and its response</a:t>
            </a:r>
            <a:r>
              <a:rPr lang="en-US" dirty="0"/>
              <a:t>. This point is called the </a:t>
            </a:r>
            <a:r>
              <a:rPr lang="en-US" b="1" dirty="0"/>
              <a:t>linearization point</a:t>
            </a:r>
            <a:r>
              <a:rPr lang="en-US" dirty="0"/>
              <a:t>.</a:t>
            </a:r>
          </a:p>
          <a:p>
            <a:r>
              <a:rPr lang="en-US" dirty="0"/>
              <a:t>A concurrent system is </a:t>
            </a:r>
            <a:r>
              <a:rPr lang="en-US" b="1" dirty="0"/>
              <a:t>linearizable</a:t>
            </a:r>
            <a:r>
              <a:rPr lang="en-US" dirty="0"/>
              <a:t> if every possible interleaving of operations performed by multiple threads is equivalent to a sequential trace that preserves real-time ordering.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605362-3EBD-02EC-1298-41730178CCCC}"/>
              </a:ext>
            </a:extLst>
          </p:cNvPr>
          <p:cNvCxnSpPr/>
          <p:nvPr/>
        </p:nvCxnSpPr>
        <p:spPr>
          <a:xfrm>
            <a:off x="5129408" y="8641393"/>
            <a:ext cx="7315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5E4797F-AD4C-8D4D-208A-67DB85E9D327}"/>
              </a:ext>
            </a:extLst>
          </p:cNvPr>
          <p:cNvSpPr txBox="1"/>
          <p:nvPr/>
        </p:nvSpPr>
        <p:spPr>
          <a:xfrm>
            <a:off x="11456200" y="8750893"/>
            <a:ext cx="6977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0356F4-B7AB-16B4-0491-DDC4F45D867D}"/>
              </a:ext>
            </a:extLst>
          </p:cNvPr>
          <p:cNvCxnSpPr/>
          <p:nvPr/>
        </p:nvCxnSpPr>
        <p:spPr>
          <a:xfrm>
            <a:off x="12070080" y="8935558"/>
            <a:ext cx="4343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E671C6CA-C593-4BC8-22DD-FB7E86963B2A}"/>
              </a:ext>
            </a:extLst>
          </p:cNvPr>
          <p:cNvSpPr/>
          <p:nvPr/>
        </p:nvSpPr>
        <p:spPr>
          <a:xfrm>
            <a:off x="5199529" y="8097375"/>
            <a:ext cx="1595718" cy="313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store(5)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C0F4DB-3F1A-62F6-0334-6D54DAD01130}"/>
              </a:ext>
            </a:extLst>
          </p:cNvPr>
          <p:cNvSpPr/>
          <p:nvPr/>
        </p:nvSpPr>
        <p:spPr>
          <a:xfrm>
            <a:off x="7135906" y="7460880"/>
            <a:ext cx="2115670" cy="385451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load()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5</a:t>
            </a:r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EB6B64-DBCF-F1C1-1ACC-2765BA2E1910}"/>
              </a:ext>
            </a:extLst>
          </p:cNvPr>
          <p:cNvSpPr/>
          <p:nvPr/>
        </p:nvSpPr>
        <p:spPr>
          <a:xfrm>
            <a:off x="10085294" y="6905065"/>
            <a:ext cx="2178424" cy="3944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store(3)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42440-5AFB-F66F-4043-AD2566C59979}"/>
              </a:ext>
            </a:extLst>
          </p:cNvPr>
          <p:cNvSpPr/>
          <p:nvPr/>
        </p:nvSpPr>
        <p:spPr>
          <a:xfrm>
            <a:off x="9735671" y="7460880"/>
            <a:ext cx="2178424" cy="3944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load()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3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034DD7-45F6-F761-F34F-ECD5F9DAA2DD}"/>
              </a:ext>
            </a:extLst>
          </p:cNvPr>
          <p:cNvSpPr/>
          <p:nvPr/>
        </p:nvSpPr>
        <p:spPr>
          <a:xfrm>
            <a:off x="9493624" y="8097375"/>
            <a:ext cx="2950984" cy="31372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CAS(5, 3)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true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77D7F-4541-728E-3C93-D4ADC3CA24C1}"/>
              </a:ext>
            </a:extLst>
          </p:cNvPr>
          <p:cNvSpPr txBox="1"/>
          <p:nvPr/>
        </p:nvSpPr>
        <p:spPr>
          <a:xfrm>
            <a:off x="12767780" y="6736981"/>
            <a:ext cx="47044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Since there are three overlapping operations in time, there are 6 different permutations that we need to check.</a:t>
            </a:r>
          </a:p>
          <a:p>
            <a:r>
              <a:rPr lang="en-US" sz="1600" dirty="0"/>
              <a:t>Checking the return values of load and CAS operations, </a:t>
            </a:r>
          </a:p>
          <a:p>
            <a:r>
              <a:rPr lang="en-US" sz="1600" dirty="0"/>
              <a:t>(store(5), load(5), CAS(5, 3), load(3), store(3))</a:t>
            </a:r>
          </a:p>
          <a:p>
            <a:r>
              <a:rPr lang="en-US" sz="1600" dirty="0"/>
              <a:t>or</a:t>
            </a:r>
          </a:p>
          <a:p>
            <a:r>
              <a:rPr lang="en-US" sz="1600" dirty="0"/>
              <a:t>(store(5), load(5), CAS(5, 3), store(3), load(3))</a:t>
            </a:r>
          </a:p>
          <a:p>
            <a:r>
              <a:rPr lang="en-US" sz="1600" dirty="0"/>
              <a:t>are the possible </a:t>
            </a:r>
            <a:r>
              <a:rPr lang="en-US" sz="1600" dirty="0" err="1"/>
              <a:t>linearizations</a:t>
            </a:r>
            <a:r>
              <a:rPr lang="en-US" sz="1600" dirty="0"/>
              <a:t>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25A42B5-935B-69C0-87E1-11B9D652D66B}"/>
              </a:ext>
            </a:extLst>
          </p:cNvPr>
          <p:cNvSpPr txBox="1"/>
          <p:nvPr/>
        </p:nvSpPr>
        <p:spPr>
          <a:xfrm>
            <a:off x="4878888" y="9268240"/>
            <a:ext cx="123428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OmniLink</a:t>
            </a:r>
            <a:r>
              <a:rPr lang="en-US" sz="1600" dirty="0"/>
              <a:t> records the invocation and response times of each operation to construct a </a:t>
            </a:r>
            <a:r>
              <a:rPr lang="en-US" sz="1600" b="1" dirty="0"/>
              <a:t>time interval for each operation </a:t>
            </a:r>
            <a:r>
              <a:rPr lang="en-US" sz="1600" dirty="0"/>
              <a:t>and </a:t>
            </a:r>
            <a:r>
              <a:rPr lang="en-US" sz="1600" b="1" dirty="0"/>
              <a:t>examines all possible permutations </a:t>
            </a:r>
            <a:r>
              <a:rPr lang="en-US" sz="1600" dirty="0"/>
              <a:t>to determine whether there exists a sequential trace consistent with the observed return values.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42C3B7-C083-7756-D1CB-C7500FB110FA}"/>
              </a:ext>
            </a:extLst>
          </p:cNvPr>
          <p:cNvSpPr txBox="1"/>
          <p:nvPr/>
        </p:nvSpPr>
        <p:spPr>
          <a:xfrm>
            <a:off x="4878888" y="10049069"/>
            <a:ext cx="122462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If each operation could return a timestamp corresponding to its linearization point, there would be no need to examine all possible permutations. This would effectively reduce the time complexity of the verification from O(n!) to O(1).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3D0AA6-234B-9EC9-374E-DD7CAF032226}"/>
              </a:ext>
            </a:extLst>
          </p:cNvPr>
          <p:cNvSpPr txBox="1"/>
          <p:nvPr/>
        </p:nvSpPr>
        <p:spPr>
          <a:xfrm>
            <a:off x="4878892" y="11429542"/>
            <a:ext cx="118836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Timestamping Atomic Load, Store, and CAS operations 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448C5D3-8CDF-45F1-6731-927FDC54B2D1}"/>
              </a:ext>
            </a:extLst>
          </p:cNvPr>
          <p:cNvSpPr/>
          <p:nvPr/>
        </p:nvSpPr>
        <p:spPr>
          <a:xfrm>
            <a:off x="6825608" y="13636486"/>
            <a:ext cx="1328725" cy="983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 err="1"/>
              <a:t>ts</a:t>
            </a:r>
            <a:r>
              <a:rPr lang="en-US" dirty="0"/>
              <a:t>: TBD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E64AFD-0716-FD03-7D93-9C04A81B8C32}"/>
              </a:ext>
            </a:extLst>
          </p:cNvPr>
          <p:cNvSpPr/>
          <p:nvPr/>
        </p:nvSpPr>
        <p:spPr>
          <a:xfrm>
            <a:off x="9160679" y="13636486"/>
            <a:ext cx="1328725" cy="983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18</a:t>
            </a:r>
          </a:p>
          <a:p>
            <a:pPr algn="ctr"/>
            <a:r>
              <a:rPr lang="en-US" dirty="0" err="1"/>
              <a:t>ts</a:t>
            </a:r>
            <a:r>
              <a:rPr lang="en-US" dirty="0"/>
              <a:t>: 4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FD3C8EE-1E01-5AFA-537C-10FAE8F6DBDC}"/>
              </a:ext>
            </a:extLst>
          </p:cNvPr>
          <p:cNvSpPr/>
          <p:nvPr/>
        </p:nvSpPr>
        <p:spPr>
          <a:xfrm>
            <a:off x="11456204" y="13636486"/>
            <a:ext cx="1328725" cy="983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  <a:p>
            <a:pPr algn="ctr"/>
            <a:r>
              <a:rPr lang="en-US" dirty="0" err="1"/>
              <a:t>ts</a:t>
            </a:r>
            <a:r>
              <a:rPr lang="en-US" dirty="0"/>
              <a:t>: 1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7D022C6-4811-7E95-1C75-5CF947C5B97F}"/>
              </a:ext>
            </a:extLst>
          </p:cNvPr>
          <p:cNvSpPr/>
          <p:nvPr/>
        </p:nvSpPr>
        <p:spPr>
          <a:xfrm>
            <a:off x="13791275" y="13636486"/>
            <a:ext cx="1328725" cy="983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  <a:p>
            <a:pPr algn="ctr"/>
            <a:r>
              <a:rPr lang="en-US" dirty="0" err="1"/>
              <a:t>ts</a:t>
            </a:r>
            <a:r>
              <a:rPr lang="en-US" dirty="0"/>
              <a:t>: 0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58AA8CB-6159-9F10-792D-3B511E3D3807}"/>
              </a:ext>
            </a:extLst>
          </p:cNvPr>
          <p:cNvCxnSpPr/>
          <p:nvPr/>
        </p:nvCxnSpPr>
        <p:spPr>
          <a:xfrm>
            <a:off x="8217074" y="14128473"/>
            <a:ext cx="8076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C11C973-D4D2-25B2-482C-876C3B9D6D1D}"/>
              </a:ext>
            </a:extLst>
          </p:cNvPr>
          <p:cNvCxnSpPr/>
          <p:nvPr/>
        </p:nvCxnSpPr>
        <p:spPr>
          <a:xfrm>
            <a:off x="10565288" y="14128473"/>
            <a:ext cx="8076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A4867F4-CE7D-D814-2813-B7AFABE9E25D}"/>
              </a:ext>
            </a:extLst>
          </p:cNvPr>
          <p:cNvCxnSpPr/>
          <p:nvPr/>
        </p:nvCxnSpPr>
        <p:spPr>
          <a:xfrm>
            <a:off x="12861961" y="14128473"/>
            <a:ext cx="8076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B491F5A2-C262-5999-FF0A-8DAE2070E9F2}"/>
              </a:ext>
            </a:extLst>
          </p:cNvPr>
          <p:cNvCxnSpPr/>
          <p:nvPr/>
        </p:nvCxnSpPr>
        <p:spPr>
          <a:xfrm>
            <a:off x="5997392" y="13224017"/>
            <a:ext cx="671769" cy="65598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ECB77D7A-9D79-226A-90DF-7D54BCB21AD2}"/>
              </a:ext>
            </a:extLst>
          </p:cNvPr>
          <p:cNvSpPr txBox="1"/>
          <p:nvPr/>
        </p:nvSpPr>
        <p:spPr>
          <a:xfrm>
            <a:off x="5310983" y="13039348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head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45F8C02-D312-13B0-E3C6-6E484540B9B6}"/>
              </a:ext>
            </a:extLst>
          </p:cNvPr>
          <p:cNvSpPr txBox="1"/>
          <p:nvPr/>
        </p:nvSpPr>
        <p:spPr>
          <a:xfrm>
            <a:off x="13795421" y="13267155"/>
            <a:ext cx="17032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38058BF-B965-DDCF-8E33-1A910E8D82CE}"/>
              </a:ext>
            </a:extLst>
          </p:cNvPr>
          <p:cNvSpPr txBox="1"/>
          <p:nvPr/>
        </p:nvSpPr>
        <p:spPr>
          <a:xfrm>
            <a:off x="4896363" y="12231853"/>
            <a:ext cx="294112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V0: Linked-List Version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1D4200-5921-0BB2-11E0-76605EDDFC10}"/>
              </a:ext>
            </a:extLst>
          </p:cNvPr>
          <p:cNvSpPr txBox="1"/>
          <p:nvPr/>
        </p:nvSpPr>
        <p:spPr>
          <a:xfrm>
            <a:off x="10073486" y="13182673"/>
            <a:ext cx="22503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Previous values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469A3F1-2A9D-37C5-E9D6-C9586AA1D3A7}"/>
              </a:ext>
            </a:extLst>
          </p:cNvPr>
          <p:cNvSpPr txBox="1"/>
          <p:nvPr/>
        </p:nvSpPr>
        <p:spPr>
          <a:xfrm>
            <a:off x="6766953" y="13267155"/>
            <a:ext cx="19795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value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8B7FD2-36B1-4C98-F833-116489E9A40A}"/>
              </a:ext>
            </a:extLst>
          </p:cNvPr>
          <p:cNvSpPr txBox="1"/>
          <p:nvPr/>
        </p:nvSpPr>
        <p:spPr>
          <a:xfrm>
            <a:off x="12041614" y="12316152"/>
            <a:ext cx="44600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Each node has a timestamp of when it was installed by a store or CAS operation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A553F05-5F3B-FD80-A1B9-7A62B8052C52}"/>
              </a:ext>
            </a:extLst>
          </p:cNvPr>
          <p:cNvSpPr txBox="1"/>
          <p:nvPr/>
        </p:nvSpPr>
        <p:spPr>
          <a:xfrm>
            <a:off x="14598856" y="14877221"/>
            <a:ext cx="34059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Same timestamps returned by store or CAS operations</a:t>
            </a:r>
          </a:p>
        </p:txBody>
      </p:sp>
      <p:cxnSp>
        <p:nvCxnSpPr>
          <p:cNvPr id="66" name="Connector: Curved 65">
            <a:extLst>
              <a:ext uri="{FF2B5EF4-FFF2-40B4-BE49-F238E27FC236}">
                <a16:creationId xmlns:a16="http://schemas.microsoft.com/office/drawing/2014/main" id="{3E79CEEC-E2CD-E6E9-6AA7-127B55D00E8E}"/>
              </a:ext>
            </a:extLst>
          </p:cNvPr>
          <p:cNvCxnSpPr>
            <a:cxnSpLocks/>
            <a:stCxn id="62" idx="3"/>
          </p:cNvCxnSpPr>
          <p:nvPr/>
        </p:nvCxnSpPr>
        <p:spPr>
          <a:xfrm>
            <a:off x="16501705" y="12916316"/>
            <a:ext cx="671769" cy="1960168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0469AE2B-A2B9-9C3E-6ED3-4506226CBBE6}"/>
              </a:ext>
            </a:extLst>
          </p:cNvPr>
          <p:cNvSpPr txBox="1"/>
          <p:nvPr/>
        </p:nvSpPr>
        <p:spPr>
          <a:xfrm>
            <a:off x="9896992" y="15138495"/>
            <a:ext cx="3829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Timestamps are always unique.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3019C0B6-0CD6-E224-1EE5-FCF2DB740FFF}"/>
              </a:ext>
            </a:extLst>
          </p:cNvPr>
          <p:cNvCxnSpPr>
            <a:cxnSpLocks/>
          </p:cNvCxnSpPr>
          <p:nvPr/>
        </p:nvCxnSpPr>
        <p:spPr>
          <a:xfrm flipV="1">
            <a:off x="12070080" y="14750704"/>
            <a:ext cx="0" cy="38779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802CBAEE-53EE-1A2F-BB8E-D15E1CCB5624}"/>
              </a:ext>
            </a:extLst>
          </p:cNvPr>
          <p:cNvCxnSpPr>
            <a:cxnSpLocks/>
          </p:cNvCxnSpPr>
          <p:nvPr/>
        </p:nvCxnSpPr>
        <p:spPr>
          <a:xfrm flipV="1">
            <a:off x="13265789" y="14819479"/>
            <a:ext cx="403828" cy="35443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054F07E-CA61-BD28-D1DC-03637B0555BF}"/>
              </a:ext>
            </a:extLst>
          </p:cNvPr>
          <p:cNvCxnSpPr>
            <a:cxnSpLocks/>
          </p:cNvCxnSpPr>
          <p:nvPr/>
        </p:nvCxnSpPr>
        <p:spPr>
          <a:xfrm flipH="1" flipV="1">
            <a:off x="9766935" y="14787809"/>
            <a:ext cx="161321" cy="31358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FCB41EB2-5152-43B1-5DC9-C7F785EC8626}"/>
              </a:ext>
            </a:extLst>
          </p:cNvPr>
          <p:cNvSpPr txBox="1"/>
          <p:nvPr/>
        </p:nvSpPr>
        <p:spPr>
          <a:xfrm>
            <a:off x="5135583" y="14138557"/>
            <a:ext cx="176658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If timestamp is TBD, it is not fully installed yet and load should not be able to read it at this point.</a:t>
            </a:r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8ED7D0EC-685F-E1A2-68F0-75D6363AECF9}"/>
              </a:ext>
            </a:extLst>
          </p:cNvPr>
          <p:cNvSpPr/>
          <p:nvPr/>
        </p:nvSpPr>
        <p:spPr>
          <a:xfrm>
            <a:off x="4609142" y="15908221"/>
            <a:ext cx="5761654" cy="3188933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load() {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read shared global timestamp from Clock 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read_ts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read head pointer into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curr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install timestamp of head node if it is TBD (wait-free operation)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while (node’s timestamp is larger than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read_ts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{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	advance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curr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}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return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curr’s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value with timestamp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read_ts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}</a:t>
            </a:r>
          </a:p>
          <a:p>
            <a:pPr algn="ctr"/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D193CAF4-BDF3-140B-EF53-8C6178DD9399}"/>
              </a:ext>
            </a:extLst>
          </p:cNvPr>
          <p:cNvSpPr/>
          <p:nvPr/>
        </p:nvSpPr>
        <p:spPr>
          <a:xfrm>
            <a:off x="10666701" y="15663459"/>
            <a:ext cx="6799187" cy="3433695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store(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new_val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{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create new node N 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while (true) {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	read head pointer into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curr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	install timestamp of head node if it is TBD (wait-free operation)</a:t>
            </a:r>
          </a:p>
          <a:p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	make N’s next pointer point to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curr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	if (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head.CAS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(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curr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N)) {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		install timestamp of N if it is TBD (wait-free operation)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		return N’s timestamp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	}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}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}</a:t>
            </a:r>
          </a:p>
          <a:p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42D6C80-6C2B-E8A0-F1F7-01645D2A5079}"/>
              </a:ext>
            </a:extLst>
          </p:cNvPr>
          <p:cNvSpPr txBox="1"/>
          <p:nvPr/>
        </p:nvSpPr>
        <p:spPr>
          <a:xfrm>
            <a:off x="4855770" y="19832718"/>
            <a:ext cx="306814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V1: Single Node Version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1BF177B2-5115-14AA-AFD1-B0F3BB5A9E14}"/>
              </a:ext>
            </a:extLst>
          </p:cNvPr>
          <p:cNvSpPr/>
          <p:nvPr/>
        </p:nvSpPr>
        <p:spPr>
          <a:xfrm>
            <a:off x="7240101" y="21628153"/>
            <a:ext cx="2228039" cy="1741448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18</a:t>
            </a:r>
          </a:p>
          <a:p>
            <a:pPr algn="ctr"/>
            <a:r>
              <a:rPr lang="en-US" dirty="0" err="1"/>
              <a:t>ts</a:t>
            </a:r>
            <a:r>
              <a:rPr lang="en-US" dirty="0"/>
              <a:t>: 25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F6CA368A-5431-5582-411F-DA881BA582C8}"/>
              </a:ext>
            </a:extLst>
          </p:cNvPr>
          <p:cNvCxnSpPr/>
          <p:nvPr/>
        </p:nvCxnSpPr>
        <p:spPr>
          <a:xfrm>
            <a:off x="6368928" y="21842895"/>
            <a:ext cx="671769" cy="65598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F8F96FCE-495F-4D9D-C539-F16510044384}"/>
              </a:ext>
            </a:extLst>
          </p:cNvPr>
          <p:cNvSpPr txBox="1"/>
          <p:nvPr/>
        </p:nvSpPr>
        <p:spPr>
          <a:xfrm>
            <a:off x="5646870" y="21660915"/>
            <a:ext cx="853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head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90CD999-504F-D1AA-0D0B-7559425D303B}"/>
              </a:ext>
            </a:extLst>
          </p:cNvPr>
          <p:cNvSpPr txBox="1"/>
          <p:nvPr/>
        </p:nvSpPr>
        <p:spPr>
          <a:xfrm>
            <a:off x="7224470" y="23552345"/>
            <a:ext cx="33408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Used EBR reclamation strategy for safe node deallocation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9E24F69F-93BA-9859-C4E7-C058AF42FFCD}"/>
              </a:ext>
            </a:extLst>
          </p:cNvPr>
          <p:cNvSpPr/>
          <p:nvPr/>
        </p:nvSpPr>
        <p:spPr>
          <a:xfrm>
            <a:off x="10666701" y="20214855"/>
            <a:ext cx="6799187" cy="264395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load() {</a:t>
            </a: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read shared global timestamp from Clock 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read_ts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read head pointer into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curr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install timestamp of head node if it is TBD (wait-free operation)</a:t>
            </a:r>
          </a:p>
          <a:p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	read timestamp of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curr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return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curr’s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value with maximum of either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read_ts</a:t>
            </a:r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or </a:t>
            </a:r>
            <a:r>
              <a:rPr lang="en-US" sz="1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BA57E95-0670-0224-3115-8FAB1AAA80CD}"/>
              </a:ext>
            </a:extLst>
          </p:cNvPr>
          <p:cNvSpPr txBox="1"/>
          <p:nvPr/>
        </p:nvSpPr>
        <p:spPr>
          <a:xfrm>
            <a:off x="6451379" y="20500594"/>
            <a:ext cx="30167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Maintains only the most recent value with the timestamp of its installation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3438BF50-C6E5-BE5C-4588-9389790633D8}"/>
              </a:ext>
            </a:extLst>
          </p:cNvPr>
          <p:cNvSpPr txBox="1"/>
          <p:nvPr/>
        </p:nvSpPr>
        <p:spPr>
          <a:xfrm>
            <a:off x="8073429" y="12514741"/>
            <a:ext cx="30167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Maintains history of all previous values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5CC13F8-E964-DE9D-605F-12DF8B7DEE62}"/>
              </a:ext>
            </a:extLst>
          </p:cNvPr>
          <p:cNvSpPr txBox="1"/>
          <p:nvPr/>
        </p:nvSpPr>
        <p:spPr>
          <a:xfrm>
            <a:off x="4856351" y="22361578"/>
            <a:ext cx="146187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Only one thread can change the values of the node at a time.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29ACF4B-2B8E-3AEB-5D95-92D2AD267098}"/>
              </a:ext>
            </a:extLst>
          </p:cNvPr>
          <p:cNvSpPr/>
          <p:nvPr/>
        </p:nvSpPr>
        <p:spPr>
          <a:xfrm>
            <a:off x="4114801" y="24821026"/>
            <a:ext cx="7690250" cy="427244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Performance Statistics</a:t>
            </a:r>
            <a:br>
              <a:rPr lang="en-US" dirty="0"/>
            </a:br>
            <a:r>
              <a:rPr lang="en-US" dirty="0"/>
              <a:t>TODO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2B84D52-0724-C26F-A76E-BDF099778A3B}"/>
              </a:ext>
            </a:extLst>
          </p:cNvPr>
          <p:cNvSpPr txBox="1"/>
          <p:nvPr/>
        </p:nvSpPr>
        <p:spPr>
          <a:xfrm>
            <a:off x="4669232" y="19176995"/>
            <a:ext cx="98456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Proof of correctness for load(), store(), and CAS() can be found at:</a:t>
            </a:r>
            <a:br>
              <a:rPr lang="en-US" sz="1400" dirty="0"/>
            </a:br>
            <a:r>
              <a:rPr lang="en-US" sz="1400" dirty="0"/>
              <a:t>https://docs.google.com/document/d/17PGGEwHfIvlk3I5eRQr67cQOCK2-tzpfvdeK1_-RBLU/edit?usp=sharing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7E413C7C-09B9-BF6B-916B-5AFF7E7B56D1}"/>
              </a:ext>
            </a:extLst>
          </p:cNvPr>
          <p:cNvSpPr txBox="1"/>
          <p:nvPr/>
        </p:nvSpPr>
        <p:spPr>
          <a:xfrm>
            <a:off x="9348852" y="24309710"/>
            <a:ext cx="98456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GitHub repository for codebase: https://github.com/nyparker16/Fixed-Linearization-Point-Timestamps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959B5AE-0FA0-2C96-137F-9C30FC480542}"/>
              </a:ext>
            </a:extLst>
          </p:cNvPr>
          <p:cNvSpPr/>
          <p:nvPr/>
        </p:nvSpPr>
        <p:spPr>
          <a:xfrm>
            <a:off x="11805051" y="24821026"/>
            <a:ext cx="6039751" cy="42724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Future Work: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Implement V2 where there is no indirection to reach the node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Prove correctness for V1 (V0’s proof has been done)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Add timestamping for other atomic instructions such as </a:t>
            </a:r>
            <a:r>
              <a:rPr lang="en-US" dirty="0" err="1"/>
              <a:t>fetch_add</a:t>
            </a:r>
            <a:r>
              <a:rPr lang="en-US" dirty="0"/>
              <a:t> and </a:t>
            </a:r>
            <a:r>
              <a:rPr lang="en-US" dirty="0" err="1"/>
              <a:t>fetch_sub</a:t>
            </a:r>
            <a:endParaRPr lang="en-US" dirty="0"/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/>
              <a:t>Explore methods for specifying non-fixed linearization points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pic>
        <p:nvPicPr>
          <p:cNvPr id="118" name="Picture 117" descr="Systopia Lab, Computer Science, University of British Columbia · GitHub">
            <a:extLst>
              <a:ext uri="{FF2B5EF4-FFF2-40B4-BE49-F238E27FC236}">
                <a16:creationId xmlns:a16="http://schemas.microsoft.com/office/drawing/2014/main" id="{8BF660CE-AF53-AF7F-7B4A-C5079158C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3966" y="29195398"/>
            <a:ext cx="938598" cy="938598"/>
          </a:xfrm>
          <a:prstGeom prst="rect">
            <a:avLst/>
          </a:prstGeom>
        </p:spPr>
      </p:pic>
      <p:pic>
        <p:nvPicPr>
          <p:cNvPr id="121" name="Picture 120" descr="University of British Columbia | World University Rankings | THE">
            <a:extLst>
              <a:ext uri="{FF2B5EF4-FFF2-40B4-BE49-F238E27FC236}">
                <a16:creationId xmlns:a16="http://schemas.microsoft.com/office/drawing/2014/main" id="{DE178965-097F-1995-47EA-DC89AB953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2564" y="29127844"/>
            <a:ext cx="1082238" cy="108223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EDD9E2-9104-47AC-B368-9E3C73FF6666}"/>
              </a:ext>
            </a:extLst>
          </p:cNvPr>
          <p:cNvSpPr txBox="1"/>
          <p:nvPr/>
        </p:nvSpPr>
        <p:spPr>
          <a:xfrm>
            <a:off x="12263719" y="23122594"/>
            <a:ext cx="480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Timestamps are no longer unique, but load operations can always be ordered after store and modifying CAS operations.</a:t>
            </a: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BBA645B8-E9BE-E5A4-80E7-CAF41F107F07}"/>
              </a:ext>
            </a:extLst>
          </p:cNvPr>
          <p:cNvSpPr/>
          <p:nvPr/>
        </p:nvSpPr>
        <p:spPr>
          <a:xfrm rot="5400000">
            <a:off x="11572515" y="22971720"/>
            <a:ext cx="465071" cy="646331"/>
          </a:xfrm>
          <a:prstGeom prst="bent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33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</TotalTime>
  <Words>767</Words>
  <Application>Microsoft Office PowerPoint</Application>
  <PresentationFormat>Custom</PresentationFormat>
  <Paragraphs>94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Sooho Park</dc:creator>
  <cp:lastModifiedBy>Sooho Park</cp:lastModifiedBy>
  <cp:revision>6</cp:revision>
  <dcterms:created xsi:type="dcterms:W3CDTF">2026-08-12T19:04:25Z</dcterms:created>
  <dcterms:modified xsi:type="dcterms:W3CDTF">2026-08-12T23:23:48Z</dcterms:modified>
</cp:coreProperties>
</file>